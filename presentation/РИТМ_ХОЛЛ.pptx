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3C"/>
    <a:srgbClr val="E03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34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9DABB-3A4A-4C0B-8CD2-F5757F4A7B9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77862-0E49-4166-8F90-832F87A254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84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645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52D8-157A-5693-4C07-C8D20FB1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F57E8B-494F-1E01-10EB-8FE5A00E8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8B7804-F16E-A4D4-1CF4-4651EED12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400C3B-99A3-C0D1-B517-A2E98CC36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8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042F-62E0-0F74-1ECE-FC9ECD30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79D3721-82C0-D87F-8D60-163209ABB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AC8999-6E20-0E2F-63FD-2270B29FF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B052F5-01F2-4BEA-76B3-33AF5C98A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001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43D0-F004-8D91-5B4B-42627CD7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214034-9725-70CD-CCA6-177D42FC2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80D3B1-9C11-7CE4-E82A-1F391CDEE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297B01-DFC6-A582-DA92-9B2F4E2DB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940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C672-0943-32CE-00AD-EFD94EB8E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FFC3B-55E2-B789-52C3-417CA4845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8DDA5E-4E42-60D8-5B18-7986401A8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4701B0-BC7C-999C-AE9C-9D52D24BF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731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DCED7-F060-61DC-B32E-6F245699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12E30B-98A2-4E4A-B3E7-F5658A5FF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6B35804-0E00-6F30-A9CB-22742D76E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7AD150-B0E4-2557-2602-D95F41ED1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811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33E8-A3CF-5B3D-CC6F-E844A910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08529CA-ED9D-4927-B1EB-3A32AEC6D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5819857-3773-054B-3FD5-0943910B2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3B8573-6337-E76E-A7C8-3F748B31F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501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FCE6B-2E34-0F1F-C729-709BAAB5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6ABD9F-102A-6495-DC8B-B844FE028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6220AE8-6578-402C-E10A-8F198E23F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628D1D-D027-3051-20BE-6C55FB101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15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B268-E228-1D20-AEEA-801FD00B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979E66-1A2D-2727-9429-18B7A463E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DAB7156-3F86-0AD9-1FC6-D565F189F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B74E4B-C1CA-34EE-AA4D-15DFD05F4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548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F29C4-EEAD-05CD-9EC7-7A0CCD5AD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EC9C4A-F0DD-E38B-7DC0-D60DAE800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BCCD372-8185-39D3-D86C-CFE0888A9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A80D91-9694-2369-612F-B52130D56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77862-0E49-4166-8F90-832F87A254F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93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038A8-414F-3270-19B6-A2FD2020E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18F613-D483-52D2-93C1-F190C5D87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0D537C-7B35-FE34-0373-260E8B13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3819-7FAC-46F6-8E53-FE409C70591A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EB2242-96E8-E2F4-9BDC-7D0BED08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B090B-541D-562A-9629-70210CB1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828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E58D1-EB51-B2B3-0352-499718A6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522BC9-0925-366B-54EB-4C0F9D265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5B7AC2-7E58-5053-587F-95A83B64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3907-045D-4611-AAA7-F62A39550B85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379BBA-5ADF-3316-BC40-A7AE8F9C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4D083D-36A1-4B99-3310-0D9C407C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670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7A59B-6E3C-EC25-5AB2-A8F662FE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F82F8D-8748-2E90-E59E-8B21B7566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43DCAB-7D58-8D55-546B-06EE031A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6F9C-7148-4CC5-B8C6-8EAAC4A5EA6A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B74888-D8BB-53C0-0B72-B2B2F5EC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6AFA54-0C06-5965-E8C7-08817E57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511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C2D71-DA92-EC16-A79B-D3AEBA7E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E9F180-23FD-1376-FF9B-4C870660F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9A4F81-C1FC-8C2E-2AE1-11597C32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35ACA6-3736-C3F3-9A09-48F452878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0A46-8176-4367-9888-F72A201C87B8}" type="datetime1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2F41BA-7EE2-68CC-03A8-05F134D2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DF7329-114A-C69B-2002-8BFB491B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487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AD4BD-99A7-C780-74A8-95869649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F04DA9-F79D-2C03-8D9D-4E10C2F4D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973E69-83BD-65B3-8D6E-54B0F1256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C31398-EC72-7948-F999-5E00DE622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9116F90-1FB3-FEA5-9D8A-4875C8C1E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C1DAD70-4AAB-B84C-5883-79810BA0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22E3-0872-4BB3-B8F5-14B5726E7928}" type="datetime1">
              <a:rPr lang="ru-RU" smtClean="0"/>
              <a:t>28.10.2026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B4D58E6-DE91-C54C-513E-538BD261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272BEB-3DAB-B9C5-576F-903969F2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802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35ABC-B96F-9C62-BB72-B7134DED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EC509D-D8DB-5A0A-0B2B-DC4AFD588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C70E1-2CD4-4018-AD01-F78E4FBC07E8}" type="datetime1">
              <a:rPr lang="ru-RU" smtClean="0"/>
              <a:t>28.10.2026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12A2F1-CC63-5264-BF4B-BF1F7A1A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466167-BBA6-41A7-0EF7-7E2066CA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636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8881CF6-CD03-7A14-111F-A03298A4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CAC3C-A055-4C4C-AB72-16D00CA0F495}" type="datetime1">
              <a:rPr lang="ru-RU" smtClean="0"/>
              <a:t>28.10.2026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730F9F9-51C6-3134-E7D4-A11C725A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B5E546-C827-D4CD-A077-E5D43FDE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687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E4F06-4D44-77BF-DCE5-1B3AA380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E91807-99F7-21E9-ED56-C5D667DDB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1191A1B-62E1-0492-E61B-291A6DE65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57AE6C-EB08-D049-A677-BBCE7A5A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B9F2-5502-4A8F-B231-91FA287CC63F}" type="datetime1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E57E1E-E117-D050-740D-ACF47E2F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7BFC5E-B8C7-F6BC-1986-F9B90E1E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690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93786-310A-05E0-F655-0984120C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0E723DA-51E2-B303-FAE0-22947A2ED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934ADB-32AD-D80B-2548-4276C378D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25F909-1E55-10E1-2329-49A74A1C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6FB8-4296-4B21-BEEF-BA74D7A5D598}" type="datetime1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BB556B-2C7C-5FD8-6148-51825959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F4ABB6-1299-BE81-C0CA-44FBD860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357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E6F13-475E-1666-F33B-C00400F5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E7B092-2CAA-26A0-F09C-2647ADB12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57B0C9-EFD2-57A4-623C-77CB54B6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8EBD-6F65-4B39-80D4-7833F385BE9A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0073DF-A09C-0FF1-618F-40FBDDFA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902EBB-7FBC-7F38-B307-21FF59DB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20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DB7160D-6CA2-5812-4E91-054375E3A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13608F-7FEE-3ED3-AC93-510EBCFA9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29FB8E-A410-2A4A-6BDC-159210497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FB4D8-68C3-4387-AFF0-4AC3AD4A7B69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CA53BA-8BF4-E5DE-1F58-7695211A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188E49-3038-BF01-A825-0858603CB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568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94BEE-4809-CBF0-D4AB-9E617A9B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8A8A8E-EEFC-D16F-9B32-58EB2208A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F5C905-8C03-B146-15E3-8F81D2E78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A1D06-E801-43DF-B552-E9EC6597B527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7F86C6-A5AB-55B6-6878-1B3078B9C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A2E34-18E6-C1F9-58D1-052925CCF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A50AC-733F-4841-8D15-50CA19D5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57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41332A-C66C-B321-59E5-A68E6F894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84902"/>
            <a:ext cx="12192000" cy="23626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6950CA-B7B9-CB04-E252-62C70DBEBD3D}"/>
              </a:ext>
            </a:extLst>
          </p:cNvPr>
          <p:cNvSpPr txBox="1"/>
          <p:nvPr/>
        </p:nvSpPr>
        <p:spPr>
          <a:xfrm>
            <a:off x="249381" y="2587337"/>
            <a:ext cx="991292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Impact" panose="020B0806030902050204" pitchFamily="34" charset="0"/>
              </a:rPr>
              <a:t>Сайт и сквозная аналитика заявок для школы танцев «Ритм Холл»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ru-RU" sz="4400" dirty="0">
              <a:solidFill>
                <a:srgbClr val="FFC93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8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ТЗ № 19/2026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8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Выполнила: 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Ева Булаева, группа [Твоя группа]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8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Дисциплина: 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ОП.03 «Информационные технологии»</a:t>
            </a:r>
          </a:p>
          <a:p>
            <a:endParaRPr lang="ru-RU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AA43548-9E91-9DD7-1216-D71EA0D1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1</a:t>
            </a:fld>
            <a:endParaRPr lang="ru-RU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522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D99D1-DFE2-E541-68EF-D9FB1B16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BCF766A-270D-64DD-9EAA-0E99815ACCCE}"/>
              </a:ext>
            </a:extLst>
          </p:cNvPr>
          <p:cNvSpPr txBox="1"/>
          <p:nvPr/>
        </p:nvSpPr>
        <p:spPr>
          <a:xfrm>
            <a:off x="218208" y="925894"/>
            <a:ext cx="9912927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ПРОБЛЕМА</a:t>
            </a: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48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260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обращений в сентябре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48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213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потеряны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48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0%</a:t>
            </a:r>
            <a:r>
              <a:rPr lang="ru-RU" sz="48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прозрачности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28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Неизвестно, какие видео и направления приводят клиентов</a:t>
            </a:r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65BFE8-BB68-D7C8-8C09-5546C90E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2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421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DA6B2-9FB5-091C-C9C1-3B6FD47DD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69F6A1-47FF-3315-5ED0-6749BA305796}"/>
              </a:ext>
            </a:extLst>
          </p:cNvPr>
          <p:cNvSpPr txBox="1"/>
          <p:nvPr/>
        </p:nvSpPr>
        <p:spPr>
          <a:xfrm>
            <a:off x="218208" y="364785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РЕШЕНИЕ</a:t>
            </a: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32C139-1CD9-4F35-F68E-E0AD63B9A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436" y="2018480"/>
            <a:ext cx="10190961" cy="2257042"/>
          </a:xfrm>
          <a:prstGeom prst="round2DiagRect">
            <a:avLst>
              <a:gd name="adj1" fmla="val 16667"/>
              <a:gd name="adj2" fmla="val 0"/>
            </a:avLst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E03B7F-22E8-B8D5-A850-35F4E7234903}"/>
              </a:ext>
            </a:extLst>
          </p:cNvPr>
          <p:cNvSpPr txBox="1"/>
          <p:nvPr/>
        </p:nvSpPr>
        <p:spPr>
          <a:xfrm>
            <a:off x="218208" y="5452163"/>
            <a:ext cx="7751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Единая система: </a:t>
            </a:r>
            <a:r>
              <a:rPr lang="ru-RU" sz="32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от клика по ссылке до заявки в таблице и дашборда</a:t>
            </a:r>
            <a:r>
              <a:rPr lang="ru-RU" sz="200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DCE4DC-56C8-B1CC-3EA2-78C94521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3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718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03EDA-9EC4-6715-2C63-380E6E51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BAE32F-F6BB-200F-95F3-E584F9364B71}"/>
              </a:ext>
            </a:extLst>
          </p:cNvPr>
          <p:cNvSpPr txBox="1"/>
          <p:nvPr/>
        </p:nvSpPr>
        <p:spPr>
          <a:xfrm>
            <a:off x="218208" y="148753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САЙТ</a:t>
            </a: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27FA1-B306-8556-4843-5144CA1C2DD4}"/>
              </a:ext>
            </a:extLst>
          </p:cNvPr>
          <p:cNvSpPr txBox="1"/>
          <p:nvPr/>
        </p:nvSpPr>
        <p:spPr>
          <a:xfrm>
            <a:off x="218208" y="5071189"/>
            <a:ext cx="72424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11 страниц</a:t>
            </a:r>
            <a:r>
              <a:rPr lang="ru-RU" sz="24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(главная, направления, тест, расписание, педагоги, цены, связка, контакты, спасибо, политика, 404).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Опубликован на </a:t>
            </a:r>
            <a:r>
              <a:rPr lang="ru-RU" sz="2400" b="1" dirty="0" err="1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Vercel</a:t>
            </a:r>
            <a:endParaRPr lang="ru-RU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Адаптивность:</a:t>
            </a:r>
            <a:r>
              <a:rPr lang="ru-RU" sz="24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375, 768, 1280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px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(кнопки не меньше 44px).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F83B9A-DFD1-9E48-695B-5378D05096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87" t="9243" r="11940" b="31363"/>
          <a:stretch>
            <a:fillRect/>
          </a:stretch>
        </p:blipFill>
        <p:spPr>
          <a:xfrm>
            <a:off x="218208" y="1347825"/>
            <a:ext cx="7242464" cy="32783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432EB7D-D264-A7CD-3E07-56E8300FF3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77" b="18030"/>
          <a:stretch>
            <a:fillRect/>
          </a:stretch>
        </p:blipFill>
        <p:spPr>
          <a:xfrm>
            <a:off x="8471337" y="1347825"/>
            <a:ext cx="3319595" cy="49863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CCD9AFD-9B65-8C07-3D5B-E6C184A5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4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344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13D1A-F2F0-4FAA-5FEA-E6B26DDF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1A2415-5166-5D38-3BA1-AA2C6A95C752}"/>
              </a:ext>
            </a:extLst>
          </p:cNvPr>
          <p:cNvSpPr txBox="1"/>
          <p:nvPr/>
        </p:nvSpPr>
        <p:spPr>
          <a:xfrm>
            <a:off x="7017328" y="-38786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ПУТЬ ЗАЯВКИ</a:t>
            </a: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F8E5E-CA55-3BA6-806E-AFC4E07872D2}"/>
              </a:ext>
            </a:extLst>
          </p:cNvPr>
          <p:cNvSpPr txBox="1"/>
          <p:nvPr/>
        </p:nvSpPr>
        <p:spPr>
          <a:xfrm>
            <a:off x="5836228" y="5067308"/>
            <a:ext cx="502227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Одна заявка → весь путь</a:t>
            </a:r>
          </a:p>
          <a:p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Источник сохраняется на каждом этапе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7DA2E5-A77D-C99F-0576-DCE26B68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07" y="1095867"/>
            <a:ext cx="9371821" cy="6463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470793E-F77B-A305-A8D9-759B0B80E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07" y="1838651"/>
            <a:ext cx="3439393" cy="160170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9C3B7DE-E746-9DD7-BCE1-74F74F5FE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07" y="3566420"/>
            <a:ext cx="9573961" cy="22863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3445A7-6BE5-74E1-D402-2C3EF345C2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207" y="3953735"/>
            <a:ext cx="5406735" cy="2621678"/>
          </a:xfrm>
          <a:prstGeom prst="rect">
            <a:avLst/>
          </a:prstGeom>
        </p:spPr>
      </p:pic>
      <p:cxnSp>
        <p:nvCxnSpPr>
          <p:cNvPr id="22" name="Соединитель: изогнутый 21">
            <a:extLst>
              <a:ext uri="{FF2B5EF4-FFF2-40B4-BE49-F238E27FC236}">
                <a16:creationId xmlns:a16="http://schemas.microsoft.com/office/drawing/2014/main" id="{F460C845-8E98-73F8-AB90-5BD0AC427A52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3979718" y="1419033"/>
            <a:ext cx="5610310" cy="749740"/>
          </a:xfrm>
          <a:prstGeom prst="curvedConnector3">
            <a:avLst>
              <a:gd name="adj1" fmla="val -4075"/>
            </a:avLst>
          </a:prstGeom>
          <a:ln>
            <a:solidFill>
              <a:srgbClr val="FFC9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: изогнутый 24">
            <a:extLst>
              <a:ext uri="{FF2B5EF4-FFF2-40B4-BE49-F238E27FC236}">
                <a16:creationId xmlns:a16="http://schemas.microsoft.com/office/drawing/2014/main" id="{7B2FEC45-6701-4F5B-30EF-4FDBE4CEDD9A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5836228" y="3680736"/>
            <a:ext cx="3955940" cy="1102155"/>
          </a:xfrm>
          <a:prstGeom prst="curvedConnector3">
            <a:avLst>
              <a:gd name="adj1" fmla="val -5779"/>
            </a:avLst>
          </a:prstGeom>
          <a:ln>
            <a:solidFill>
              <a:srgbClr val="FFC9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изогнутый 28">
            <a:extLst>
              <a:ext uri="{FF2B5EF4-FFF2-40B4-BE49-F238E27FC236}">
                <a16:creationId xmlns:a16="http://schemas.microsoft.com/office/drawing/2014/main" id="{073F8B78-E978-8EA0-8255-AE6D46498701}"/>
              </a:ext>
            </a:extLst>
          </p:cNvPr>
          <p:cNvCxnSpPr>
            <a:cxnSpLocks/>
          </p:cNvCxnSpPr>
          <p:nvPr/>
        </p:nvCxnSpPr>
        <p:spPr>
          <a:xfrm>
            <a:off x="3657600" y="2560161"/>
            <a:ext cx="1347588" cy="926918"/>
          </a:xfrm>
          <a:prstGeom prst="curvedConnector2">
            <a:avLst/>
          </a:prstGeom>
          <a:ln>
            <a:solidFill>
              <a:srgbClr val="FFC9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869E562-8AF7-285B-BD8E-CD85F5B05E0B}"/>
              </a:ext>
            </a:extLst>
          </p:cNvPr>
          <p:cNvSpPr txBox="1"/>
          <p:nvPr/>
        </p:nvSpPr>
        <p:spPr>
          <a:xfrm>
            <a:off x="9949312" y="1590637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20899A-087D-D268-692C-5F26B726C51D}"/>
              </a:ext>
            </a:extLst>
          </p:cNvPr>
          <p:cNvSpPr txBox="1"/>
          <p:nvPr/>
        </p:nvSpPr>
        <p:spPr>
          <a:xfrm>
            <a:off x="4904117" y="269022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5751AB-69D0-FDBB-585C-19F1BAAD4317}"/>
              </a:ext>
            </a:extLst>
          </p:cNvPr>
          <p:cNvSpPr txBox="1"/>
          <p:nvPr/>
        </p:nvSpPr>
        <p:spPr>
          <a:xfrm>
            <a:off x="10106567" y="403107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</a:p>
        </p:txBody>
      </p:sp>
      <p:sp>
        <p:nvSpPr>
          <p:cNvPr id="36" name="Номер слайда 35">
            <a:extLst>
              <a:ext uri="{FF2B5EF4-FFF2-40B4-BE49-F238E27FC236}">
                <a16:creationId xmlns:a16="http://schemas.microsoft.com/office/drawing/2014/main" id="{854F1F04-7D0D-5160-49FA-EAA46B0D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5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44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FA66D-FAD0-5B89-E8E3-FAABC3C6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48167B-6395-9423-BA36-E8697A5E5AD5}"/>
              </a:ext>
            </a:extLst>
          </p:cNvPr>
          <p:cNvSpPr txBox="1"/>
          <p:nvPr/>
        </p:nvSpPr>
        <p:spPr>
          <a:xfrm>
            <a:off x="218208" y="148753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АНАЛИТИКА </a:t>
            </a:r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GA4</a:t>
            </a:r>
            <a:endParaRPr lang="ru-RU" sz="7200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793A4-21C7-4962-F9B7-AAD28B9FE83D}"/>
              </a:ext>
            </a:extLst>
          </p:cNvPr>
          <p:cNvSpPr txBox="1"/>
          <p:nvPr/>
        </p:nvSpPr>
        <p:spPr>
          <a:xfrm>
            <a:off x="218208" y="5040017"/>
            <a:ext cx="60163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32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18</a:t>
            </a: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событий отслеживается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32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7</a:t>
            </a: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пользовательских параметров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Ключевое событие: </a:t>
            </a:r>
            <a:r>
              <a:rPr lang="ru-RU" sz="3200" dirty="0" err="1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generate_lead</a:t>
            </a:r>
            <a:endParaRPr lang="ru-RU" sz="2800" dirty="0">
              <a:solidFill>
                <a:srgbClr val="FFC93C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28FAE3-945D-E1ED-3FF7-30B79EED1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277" y="1481186"/>
            <a:ext cx="7339445" cy="35588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0703CA-4162-1BD9-F7D1-88D169C5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6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888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810CF-6034-3A59-C979-3D178EAAB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B5F56B-77EF-A186-84AD-798EA0437F2C}"/>
              </a:ext>
            </a:extLst>
          </p:cNvPr>
          <p:cNvSpPr txBox="1"/>
          <p:nvPr/>
        </p:nvSpPr>
        <p:spPr>
          <a:xfrm>
            <a:off x="218208" y="148753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ВОРОНКА</a:t>
            </a: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5E2CF1-02A8-548D-689D-E7AC62CBF132}"/>
              </a:ext>
            </a:extLst>
          </p:cNvPr>
          <p:cNvSpPr txBox="1"/>
          <p:nvPr/>
        </p:nvSpPr>
        <p:spPr>
          <a:xfrm>
            <a:off x="210468" y="3782717"/>
            <a:ext cx="60163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32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-80%</a:t>
            </a:r>
            <a:r>
              <a:rPr lang="ru-RU" sz="32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— потеря между 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page_view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и </a:t>
            </a:r>
            <a:r>
              <a:rPr lang="ru-RU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cta_click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3200" i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Вывод:</a:t>
            </a:r>
            <a:r>
              <a:rPr lang="ru-RU" sz="32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пользователи заходят, но не кликают.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3200" i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Рекомендация:</a:t>
            </a:r>
            <a:r>
              <a:rPr lang="ru-RU" sz="32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упростить валидацию телефона (маска ввода).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228124-1AEE-B072-A82C-D5AE1DE7643B}"/>
              </a:ext>
            </a:extLst>
          </p:cNvPr>
          <p:cNvSpPr/>
          <p:nvPr/>
        </p:nvSpPr>
        <p:spPr>
          <a:xfrm>
            <a:off x="218208" y="1817983"/>
            <a:ext cx="1963882" cy="831273"/>
          </a:xfrm>
          <a:prstGeom prst="rect">
            <a:avLst/>
          </a:prstGeom>
          <a:solidFill>
            <a:srgbClr val="FFC9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page_view</a:t>
            </a:r>
            <a:endParaRPr lang="en-U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01CFCC-FA36-B397-2B80-FC24AE582CD4}"/>
              </a:ext>
            </a:extLst>
          </p:cNvPr>
          <p:cNvSpPr/>
          <p:nvPr/>
        </p:nvSpPr>
        <p:spPr>
          <a:xfrm>
            <a:off x="2636692" y="1817983"/>
            <a:ext cx="1963882" cy="831273"/>
          </a:xfrm>
          <a:prstGeom prst="rect">
            <a:avLst/>
          </a:prstGeom>
          <a:solidFill>
            <a:srgbClr val="FFC9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style_select</a:t>
            </a:r>
            <a:endParaRPr lang="en-U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27C810E-53C5-EEEE-EA31-EBB48CBDCD08}"/>
              </a:ext>
            </a:extLst>
          </p:cNvPr>
          <p:cNvSpPr/>
          <p:nvPr/>
        </p:nvSpPr>
        <p:spPr>
          <a:xfrm>
            <a:off x="5114059" y="1817983"/>
            <a:ext cx="1963882" cy="831273"/>
          </a:xfrm>
          <a:prstGeom prst="rect">
            <a:avLst/>
          </a:prstGeom>
          <a:solidFill>
            <a:srgbClr val="FFC9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cta_click</a:t>
            </a:r>
            <a:endParaRPr lang="en-U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B6BD5C-5623-2CF8-7A38-21970E16EFEC}"/>
              </a:ext>
            </a:extLst>
          </p:cNvPr>
          <p:cNvSpPr/>
          <p:nvPr/>
        </p:nvSpPr>
        <p:spPr>
          <a:xfrm>
            <a:off x="7532543" y="1817983"/>
            <a:ext cx="1963882" cy="831273"/>
          </a:xfrm>
          <a:prstGeom prst="rect">
            <a:avLst/>
          </a:prstGeom>
          <a:solidFill>
            <a:srgbClr val="FFC9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form_start</a:t>
            </a:r>
            <a:endParaRPr lang="en-U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576068-B927-6C24-C453-FAB85C286183}"/>
              </a:ext>
            </a:extLst>
          </p:cNvPr>
          <p:cNvSpPr/>
          <p:nvPr/>
        </p:nvSpPr>
        <p:spPr>
          <a:xfrm>
            <a:off x="10009910" y="1807555"/>
            <a:ext cx="1963882" cy="831273"/>
          </a:xfrm>
          <a:prstGeom prst="rect">
            <a:avLst/>
          </a:prstGeom>
          <a:solidFill>
            <a:srgbClr val="FFC9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generate_lead</a:t>
            </a:r>
            <a:endParaRPr lang="en-U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7C2E719-79BD-E918-3498-D19BA97A9FB4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182090" y="2233620"/>
            <a:ext cx="454602" cy="0"/>
          </a:xfrm>
          <a:prstGeom prst="straightConnector1">
            <a:avLst/>
          </a:prstGeom>
          <a:ln>
            <a:solidFill>
              <a:srgbClr val="E030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83B37DD4-5E70-68DB-FC45-CE0B872DD748}"/>
              </a:ext>
            </a:extLst>
          </p:cNvPr>
          <p:cNvCxnSpPr/>
          <p:nvPr/>
        </p:nvCxnSpPr>
        <p:spPr>
          <a:xfrm>
            <a:off x="4600574" y="2240120"/>
            <a:ext cx="454602" cy="0"/>
          </a:xfrm>
          <a:prstGeom prst="straightConnector1">
            <a:avLst/>
          </a:prstGeom>
          <a:ln>
            <a:solidFill>
              <a:srgbClr val="E030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0BFE68B-81E3-2008-5365-17962715B756}"/>
              </a:ext>
            </a:extLst>
          </p:cNvPr>
          <p:cNvCxnSpPr/>
          <p:nvPr/>
        </p:nvCxnSpPr>
        <p:spPr>
          <a:xfrm>
            <a:off x="7077941" y="2240120"/>
            <a:ext cx="454602" cy="0"/>
          </a:xfrm>
          <a:prstGeom prst="straightConnector1">
            <a:avLst/>
          </a:prstGeom>
          <a:ln>
            <a:solidFill>
              <a:srgbClr val="E030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80352CD7-CB92-89A2-3273-4221DDF9D4BA}"/>
              </a:ext>
            </a:extLst>
          </p:cNvPr>
          <p:cNvCxnSpPr/>
          <p:nvPr/>
        </p:nvCxnSpPr>
        <p:spPr>
          <a:xfrm>
            <a:off x="9496425" y="2240120"/>
            <a:ext cx="454602" cy="0"/>
          </a:xfrm>
          <a:prstGeom prst="straightConnector1">
            <a:avLst/>
          </a:prstGeom>
          <a:ln>
            <a:solidFill>
              <a:srgbClr val="E030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0714A8-6D88-231D-97D9-14238D4758EC}"/>
              </a:ext>
            </a:extLst>
          </p:cNvPr>
          <p:cNvSpPr txBox="1"/>
          <p:nvPr/>
        </p:nvSpPr>
        <p:spPr>
          <a:xfrm>
            <a:off x="3226376" y="282146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-30%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1B3EE1-1966-B1A5-4232-8117F95972D8}"/>
              </a:ext>
            </a:extLst>
          </p:cNvPr>
          <p:cNvSpPr txBox="1"/>
          <p:nvPr/>
        </p:nvSpPr>
        <p:spPr>
          <a:xfrm>
            <a:off x="5743980" y="282146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-50%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D0D111-7A40-8632-988C-3E478CA7A8B0}"/>
              </a:ext>
            </a:extLst>
          </p:cNvPr>
          <p:cNvSpPr txBox="1"/>
          <p:nvPr/>
        </p:nvSpPr>
        <p:spPr>
          <a:xfrm>
            <a:off x="8162464" y="282146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-10%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947EE-48E6-2D7D-BA86-0B870FD21153}"/>
              </a:ext>
            </a:extLst>
          </p:cNvPr>
          <p:cNvSpPr txBox="1"/>
          <p:nvPr/>
        </p:nvSpPr>
        <p:spPr>
          <a:xfrm>
            <a:off x="10639831" y="2821460"/>
            <a:ext cx="567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0814D1-BF95-63DB-E309-CF407197339A}"/>
              </a:ext>
            </a:extLst>
          </p:cNvPr>
          <p:cNvSpPr txBox="1"/>
          <p:nvPr/>
        </p:nvSpPr>
        <p:spPr>
          <a:xfrm>
            <a:off x="951685" y="2821460"/>
            <a:ext cx="490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0%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F2DA1C5-0958-031F-0011-7203FC1D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7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274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623F3-2F44-64D6-D23B-6FB4C5CF8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6D5966-19DC-1522-C181-66AC2FFDAD4C}"/>
              </a:ext>
            </a:extLst>
          </p:cNvPr>
          <p:cNvSpPr txBox="1"/>
          <p:nvPr/>
        </p:nvSpPr>
        <p:spPr>
          <a:xfrm>
            <a:off x="218208" y="148753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ДАШБОРД </a:t>
            </a:r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DATALENS</a:t>
            </a:r>
            <a:endParaRPr lang="ru-RU" sz="7200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6F655-2893-8737-555B-805AA754A4F6}"/>
              </a:ext>
            </a:extLst>
          </p:cNvPr>
          <p:cNvSpPr txBox="1"/>
          <p:nvPr/>
        </p:nvSpPr>
        <p:spPr>
          <a:xfrm>
            <a:off x="7286955" y="2176198"/>
            <a:ext cx="46551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Все заявки на одном экране.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Данные подтягиваются из Google Таблицы автоматически.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Видно, сколько заявок в каком статусе.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CC4DE1-6DEA-2AAE-6A0B-081801E41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84" y="1610863"/>
            <a:ext cx="6777795" cy="423921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463ABB7-2AC1-921F-210B-3F78E5590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8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062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43D4D-3841-AE6E-A70A-F853E11A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1C769D-F238-1022-C144-789DFBADA645}"/>
              </a:ext>
            </a:extLst>
          </p:cNvPr>
          <p:cNvSpPr txBox="1"/>
          <p:nvPr/>
        </p:nvSpPr>
        <p:spPr>
          <a:xfrm>
            <a:off x="218208" y="148753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РЕЗУЛЬТАТ</a:t>
            </a: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5E8A7-C6E2-FEED-93D8-880F4F7A4F82}"/>
              </a:ext>
            </a:extLst>
          </p:cNvPr>
          <p:cNvSpPr txBox="1"/>
          <p:nvPr/>
        </p:nvSpPr>
        <p:spPr>
          <a:xfrm>
            <a:off x="218208" y="5713576"/>
            <a:ext cx="982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Рекомендация:</a:t>
            </a:r>
            <a:r>
              <a:rPr lang="ru-RU" sz="28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добавить маску ввода телефона, чтобы снизить количество ошибок (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form_error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и увеличить конверсию.</a:t>
            </a:r>
            <a:endParaRPr lang="ru-RU" sz="3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C2D6D6D-4441-CEA7-7908-7D90C16E5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047911"/>
              </p:ext>
            </p:extLst>
          </p:nvPr>
        </p:nvGraphicFramePr>
        <p:xfrm>
          <a:off x="2060865" y="1752600"/>
          <a:ext cx="81280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15257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26021513"/>
                    </a:ext>
                  </a:extLst>
                </a:gridCol>
              </a:tblGrid>
              <a:tr h="499726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rgbClr val="FFC93C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БЫЛО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rgbClr val="FFC93C"/>
                          </a:solidFill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СТАЛО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365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 Заявки в личных сообщениях </a:t>
                      </a:r>
                      <a:endParaRPr lang="ru-RU" sz="28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Все в одной таблице со статусом.</a:t>
                      </a:r>
                      <a:endParaRPr lang="ru-RU" sz="28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553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Источник клиента неизвестен</a:t>
                      </a:r>
                      <a:endParaRPr lang="ru-RU" sz="28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У каждой заявки есть канал (UTM).</a:t>
                      </a:r>
                      <a:endParaRPr lang="ru-RU" sz="28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08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Бюджет «по ощущениям»</a:t>
                      </a:r>
                      <a:endParaRPr lang="ru-RU" sz="28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i="0" kern="120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Дашборд с реальными цифрами.</a:t>
                      </a:r>
                      <a:endParaRPr lang="ru-RU" sz="280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393413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586F2E-9288-D820-46AE-3F398033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9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890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86B21-58B9-3507-D0F4-CE87ED5B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470322-49BB-26B3-A663-BA2747ED591F}"/>
              </a:ext>
            </a:extLst>
          </p:cNvPr>
          <p:cNvSpPr txBox="1"/>
          <p:nvPr/>
        </p:nvSpPr>
        <p:spPr>
          <a:xfrm>
            <a:off x="218208" y="148753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ИИ и сложности</a:t>
            </a: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BF094-78EA-CF69-6241-C930FF5D8E3A}"/>
              </a:ext>
            </a:extLst>
          </p:cNvPr>
          <p:cNvSpPr txBox="1"/>
          <p:nvPr/>
        </p:nvSpPr>
        <p:spPr>
          <a:xfrm>
            <a:off x="301335" y="1609167"/>
            <a:ext cx="9829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40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ИИ помог:</a:t>
            </a:r>
            <a:r>
              <a:rPr lang="ru-RU" sz="40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помощь в написании HTML/CSS каркаса сайта, скриптов для </a:t>
            </a:r>
            <a:r>
              <a:rPr lang="ru-RU" sz="32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Apps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Script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3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40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Исправила вручную:</a:t>
            </a:r>
            <a:r>
              <a:rPr lang="ru-RU" sz="40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настроила UTM-метки, добавила </a:t>
            </a:r>
            <a:r>
              <a:rPr lang="ru-RU" sz="32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-атрибуты для GA4, исправила конфликты скриптов.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ru-RU" sz="32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40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Сложности:</a:t>
            </a:r>
            <a:r>
              <a:rPr lang="ru-RU" sz="40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часть с 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Instagram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из-за технических проблем</a:t>
            </a:r>
            <a:r>
              <a:rPr lang="ru-RU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61ED0A-5BC1-38B8-DD34-7E49E94B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10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292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5000">
              <a:schemeClr val="tx1"/>
            </a:gs>
            <a:gs pos="100000">
              <a:srgbClr val="E0306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76A8B-67A2-6C78-EE5C-434862DA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DDEE5F-A26C-45AA-9D0F-B7760DBE5B16}"/>
              </a:ext>
            </a:extLst>
          </p:cNvPr>
          <p:cNvSpPr txBox="1"/>
          <p:nvPr/>
        </p:nvSpPr>
        <p:spPr>
          <a:xfrm>
            <a:off x="218208" y="148753"/>
            <a:ext cx="99129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ССЫЛКИ</a:t>
            </a:r>
          </a:p>
          <a:p>
            <a:endParaRPr lang="ru-RU" sz="4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F949E-763C-7CC7-2E92-FA1F9161D922}"/>
              </a:ext>
            </a:extLst>
          </p:cNvPr>
          <p:cNvSpPr txBox="1"/>
          <p:nvPr/>
        </p:nvSpPr>
        <p:spPr>
          <a:xfrm>
            <a:off x="290945" y="1609167"/>
            <a:ext cx="116828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32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Сайт:</a:t>
            </a:r>
            <a:r>
              <a:rPr lang="ru-RU" sz="32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https://tz-19-shkola-tancev-ritm-holl.vercel.app/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32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Репозиторий:</a:t>
            </a:r>
            <a:r>
              <a:rPr lang="ru-RU" sz="32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https://github.com/evkkiis/tz-19-shkola-tancev-ritm</a:t>
            </a:r>
            <a:r>
              <a:rPr lang="ru-RU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</a:t>
            </a:r>
            <a:r>
              <a:rPr lang="en-US" sz="2400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holl</a:t>
            </a:r>
            <a:endParaRPr lang="ru-RU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3200" b="1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Дашборд:</a:t>
            </a:r>
            <a:r>
              <a:rPr lang="ru-RU" sz="3200" dirty="0">
                <a:solidFill>
                  <a:srgbClr val="FFC93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https://datalens.ru/wizard/lu4xz8n1xsaw4-ritm-holl-newyear-show-2026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Рисунок 2" descr="Изображение выглядит как шаблон, прямоугольный, Симметр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F8F93B-610E-FFD9-5752-A079211ED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98" y="3429001"/>
            <a:ext cx="2489501" cy="24895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 descr="Изображение выглядит как шаблон, прямоугольный, Симметрия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58BCEC-36FD-B98E-89F1-3D815CDF4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249" y="3429000"/>
            <a:ext cx="2489501" cy="2489501"/>
          </a:xfrm>
          <a:prstGeom prst="rect">
            <a:avLst/>
          </a:prstGeom>
        </p:spPr>
      </p:pic>
      <p:pic>
        <p:nvPicPr>
          <p:cNvPr id="9" name="Рисунок 8" descr="Изображение выглядит как шаблон, прямоугольный, Симметрия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4FA15D-5EB2-FAC0-5701-0A31EE74F7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701" y="3429000"/>
            <a:ext cx="2489502" cy="24895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41D4F5-2BBA-46C5-F24B-E8C6951B1F53}"/>
              </a:ext>
            </a:extLst>
          </p:cNvPr>
          <p:cNvSpPr txBox="1"/>
          <p:nvPr/>
        </p:nvSpPr>
        <p:spPr>
          <a:xfrm>
            <a:off x="1121792" y="5918501"/>
            <a:ext cx="18915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Репозиторий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434B7-24EC-8D29-3E38-9D6FD83925B8}"/>
              </a:ext>
            </a:extLst>
          </p:cNvPr>
          <p:cNvSpPr txBox="1"/>
          <p:nvPr/>
        </p:nvSpPr>
        <p:spPr>
          <a:xfrm>
            <a:off x="5725178" y="5918500"/>
            <a:ext cx="2043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Сайт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B2378B-167C-72CD-9D89-4C97240E734A}"/>
              </a:ext>
            </a:extLst>
          </p:cNvPr>
          <p:cNvSpPr txBox="1"/>
          <p:nvPr/>
        </p:nvSpPr>
        <p:spPr>
          <a:xfrm>
            <a:off x="9458545" y="5918499"/>
            <a:ext cx="2043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Дашборд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F6D752BF-3243-72F6-5C68-93FBAB41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A50AC-733F-4841-8D15-50CA19D55C14}" type="slidenum">
              <a:rPr lang="ru-RU" sz="2000" smtClean="0">
                <a:solidFill>
                  <a:srgbClr val="FFC93C"/>
                </a:solidFill>
              </a:rPr>
              <a:t>11</a:t>
            </a:fld>
            <a:endParaRPr lang="ru-RU" sz="2000" dirty="0">
              <a:solidFill>
                <a:srgbClr val="FFC9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415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383</Words>
  <Application>Microsoft Office PowerPoint</Application>
  <PresentationFormat>Широкоэкранный</PresentationFormat>
  <Paragraphs>90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 Light</vt:lpstr>
      <vt:lpstr>Impact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Ева</dc:creator>
  <cp:lastModifiedBy>Ева</cp:lastModifiedBy>
  <cp:revision>1</cp:revision>
  <dcterms:created xsi:type="dcterms:W3CDTF">2026-10-28T12:51:13Z</dcterms:created>
  <dcterms:modified xsi:type="dcterms:W3CDTF">2026-10-28T15:14:05Z</dcterms:modified>
</cp:coreProperties>
</file>